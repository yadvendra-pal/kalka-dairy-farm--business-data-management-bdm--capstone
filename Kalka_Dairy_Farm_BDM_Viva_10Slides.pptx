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vendra pal" userId="bea0e3b5dadaf00b" providerId="LiveId" clId="{02363B66-7B3D-408D-A31E-AB32D4D1F314}"/>
    <pc:docChg chg="modSld">
      <pc:chgData name="Yadvendra pal" userId="bea0e3b5dadaf00b" providerId="LiveId" clId="{02363B66-7B3D-408D-A31E-AB32D4D1F314}" dt="2026-09-17T04:41:35.476" v="0" actId="20577"/>
      <pc:docMkLst>
        <pc:docMk/>
      </pc:docMkLst>
      <pc:sldChg chg="modSp mod">
        <pc:chgData name="Yadvendra pal" userId="bea0e3b5dadaf00b" providerId="LiveId" clId="{02363B66-7B3D-408D-A31E-AB32D4D1F314}" dt="2026-09-17T04:41:35.476" v="0" actId="20577"/>
        <pc:sldMkLst>
          <pc:docMk/>
          <pc:sldMk cId="0" sldId="257"/>
        </pc:sldMkLst>
        <pc:spChg chg="mod">
          <ac:chgData name="Yadvendra pal" userId="bea0e3b5dadaf00b" providerId="LiveId" clId="{02363B66-7B3D-408D-A31E-AB32D4D1F314}" dt="2026-09-17T04:41:35.476" v="0" actId="20577"/>
          <ac:spMkLst>
            <pc:docMk/>
            <pc:sldMk cId="0" sldId="257"/>
            <ac:spMk id="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Calibri"/>
              </a:rPr>
              <a:t>Milk Production (L)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Milk (L)</c:v>
                </c:pt>
              </c:strCache>
            </c:strRef>
          </c:tx>
          <c:spPr>
            <a:ln w="31750" cap="flat">
              <a:solidFill>
                <a:srgbClr val="1B94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B9461"/>
              </a:solidFill>
              <a:ln w="9525" cap="flat">
                <a:solidFill>
                  <a:srgbClr val="1B94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1125</c:v>
                </c:pt>
                <c:pt idx="1">
                  <c:v>1088</c:v>
                </c:pt>
                <c:pt idx="2">
                  <c:v>1158</c:v>
                </c:pt>
                <c:pt idx="3">
                  <c:v>1172</c:v>
                </c:pt>
                <c:pt idx="4">
                  <c:v>1201</c:v>
                </c:pt>
                <c:pt idx="5">
                  <c:v>1186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FA-49CF-834C-43689DAED43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20"/>
          <c:min val="1050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Calibri"/>
              </a:rPr>
              <a:t>Revenue, Expenses &amp; Profit (Rs)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 cap="flat">
              <a:solidFill>
                <a:srgbClr val="2F6FB0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F6FB0"/>
              </a:solidFill>
              <a:ln w="9525" cap="flat">
                <a:solidFill>
                  <a:srgbClr val="2F6FB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67500</c:v>
                </c:pt>
                <c:pt idx="1">
                  <c:v>65280</c:v>
                </c:pt>
                <c:pt idx="2">
                  <c:v>69480</c:v>
                </c:pt>
                <c:pt idx="3">
                  <c:v>70320</c:v>
                </c:pt>
                <c:pt idx="4">
                  <c:v>72060</c:v>
                </c:pt>
                <c:pt idx="5">
                  <c:v>71160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09-4A36-B4AE-B6CBC6C463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32700</c:v>
                </c:pt>
                <c:pt idx="1">
                  <c:v>31850</c:v>
                </c:pt>
                <c:pt idx="2">
                  <c:v>33350</c:v>
                </c:pt>
                <c:pt idx="3">
                  <c:v>33870</c:v>
                </c:pt>
                <c:pt idx="4">
                  <c:v>34580</c:v>
                </c:pt>
                <c:pt idx="5">
                  <c:v>33970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09-4A36-B4AE-B6CBC6C463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 cap="flat">
              <a:solidFill>
                <a:srgbClr val="1B9461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1B9461"/>
              </a:solidFill>
              <a:ln w="9525" cap="flat">
                <a:solidFill>
                  <a:srgbClr val="1B94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34800</c:v>
                </c:pt>
                <c:pt idx="1">
                  <c:v>33430</c:v>
                </c:pt>
                <c:pt idx="2">
                  <c:v>36130</c:v>
                </c:pt>
                <c:pt idx="3">
                  <c:v>36450</c:v>
                </c:pt>
                <c:pt idx="4">
                  <c:v>37480</c:v>
                </c:pt>
                <c:pt idx="5">
                  <c:v>37190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B09-4A36-B4AE-B6CBC6C463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Calibri"/>
              </a:rPr>
              <a:t>Profit Margin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(%)</c:v>
                </c:pt>
              </c:strCache>
            </c:strRef>
          </c:tx>
          <c:spPr>
            <a:ln w="31750" cap="flat">
              <a:solidFill>
                <a:srgbClr val="1263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2633F"/>
              </a:solidFill>
              <a:ln w="9525" cap="flat">
                <a:solidFill>
                  <a:srgbClr val="12633F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51.56</c:v>
                </c:pt>
                <c:pt idx="1">
                  <c:v>51.21</c:v>
                </c:pt>
                <c:pt idx="2">
                  <c:v>52</c:v>
                </c:pt>
                <c:pt idx="3">
                  <c:v>51.83</c:v>
                </c:pt>
                <c:pt idx="4">
                  <c:v>52.01</c:v>
                </c:pt>
                <c:pt idx="5">
                  <c:v>52.26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F8-481D-B6D0-FB54B7C1840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3"/>
          <c:min val="50.5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250" b="0" i="0" u="none" strike="noStrike">
                <a:solidFill>
                  <a:srgbClr val="000000"/>
                </a:solidFill>
                <a:latin typeface="Calibri"/>
              </a:rPr>
              <a:t>Customer Base (40 total)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4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FC-4667-8962-ED79DEFC2C1C}"/>
              </c:ext>
            </c:extLst>
          </c:dPt>
          <c:dPt>
            <c:idx val="1"/>
            <c:bubble3D val="0"/>
            <c:spPr>
              <a:solidFill>
                <a:srgbClr val="2A2E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FC-4667-8962-ED79DEFC2C1C}"/>
              </c:ext>
            </c:extLst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FC-4667-8962-ED79DEFC2C1C}"/>
                </c:ext>
              </c:extLst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FC-4667-8962-ED79DEFC2C1C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Retail (34)</c:v>
                </c:pt>
                <c:pt idx="1">
                  <c:v>Wholesale (6)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FC-4667-8962-ED79DEFC2C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000000"/>
                </a:solidFill>
                <a:latin typeface="Calibri"/>
              </a:rPr>
              <a:t>Avg Milk Yield by Animal (L/day)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L/day</c:v>
                </c:pt>
              </c:strCache>
            </c:strRef>
          </c:tx>
          <c:spPr>
            <a:solidFill>
              <a:srgbClr val="2F6FB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Radha</c:v>
                </c:pt>
                <c:pt idx="1">
                  <c:v>Nandini</c:v>
                </c:pt>
                <c:pt idx="2">
                  <c:v>Gauri</c:v>
                </c:pt>
                <c:pt idx="3">
                  <c:v>Shyam</c:v>
                </c:pt>
                <c:pt idx="4">
                  <c:v>Ganga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12.3</c:v>
                </c:pt>
                <c:pt idx="1">
                  <c:v>12</c:v>
                </c:pt>
                <c:pt idx="2">
                  <c:v>11.5</c:v>
                </c:pt>
                <c:pt idx="3">
                  <c:v>9.5</c:v>
                </c:pt>
                <c:pt idx="4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3-4956-A712-0CE63CF5D3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4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461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45720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4" name="Image 0" descr="img/iit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576072"/>
            <a:ext cx="996696" cy="996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4572000"/>
            <a:ext cx="841248" cy="841248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6" name="Shape 3"/>
          <p:cNvSpPr/>
          <p:nvPr/>
        </p:nvSpPr>
        <p:spPr>
          <a:xfrm>
            <a:off x="9829800" y="4572000"/>
            <a:ext cx="841248" cy="841248"/>
          </a:xfrm>
          <a:prstGeom prst="ellipse">
            <a:avLst/>
          </a:prstGeom>
          <a:solidFill>
            <a:srgbClr val="12633F"/>
          </a:solidFill>
          <a:ln/>
        </p:spPr>
      </p:sp>
      <p:sp>
        <p:nvSpPr>
          <p:cNvPr id="7" name="Shape 4"/>
          <p:cNvSpPr/>
          <p:nvPr/>
        </p:nvSpPr>
        <p:spPr>
          <a:xfrm>
            <a:off x="10789920" y="4572000"/>
            <a:ext cx="841248" cy="841248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8" name="Shape 5"/>
          <p:cNvSpPr/>
          <p:nvPr/>
        </p:nvSpPr>
        <p:spPr>
          <a:xfrm>
            <a:off x="8869680" y="5532120"/>
            <a:ext cx="841248" cy="841248"/>
          </a:xfrm>
          <a:prstGeom prst="ellipse">
            <a:avLst/>
          </a:prstGeom>
          <a:solidFill>
            <a:srgbClr val="12633F"/>
          </a:solidFill>
          <a:ln/>
        </p:spPr>
      </p:sp>
      <p:sp>
        <p:nvSpPr>
          <p:cNvPr id="9" name="Shape 6"/>
          <p:cNvSpPr/>
          <p:nvPr/>
        </p:nvSpPr>
        <p:spPr>
          <a:xfrm>
            <a:off x="9829800" y="5532120"/>
            <a:ext cx="841248" cy="841248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0" name="Shape 7"/>
          <p:cNvSpPr/>
          <p:nvPr/>
        </p:nvSpPr>
        <p:spPr>
          <a:xfrm>
            <a:off x="10789920" y="5532120"/>
            <a:ext cx="841248" cy="841248"/>
          </a:xfrm>
          <a:prstGeom prst="ellipse">
            <a:avLst/>
          </a:prstGeom>
          <a:solidFill>
            <a:srgbClr val="12633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BDM CAPSTONE PROJECT — VIVA VOCE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214884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Data-Driven Insights for Kalka Dairy Farm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77240" y="3200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Process, Findings, and Strategic Recommendations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77240" y="3931920"/>
            <a:ext cx="640080" cy="50292"/>
          </a:xfrm>
          <a:prstGeom prst="rect">
            <a:avLst/>
          </a:prstGeom>
          <a:solidFill>
            <a:srgbClr val="1B9461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Yadvendra Pal   |   Roll No. 24f1000137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IITM BS Degree Program  •  Indian Institute of Technology, Madras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Kalka Dairy Farm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4" name="Image 0" descr="img/own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34440"/>
            <a:ext cx="5074920" cy="2880360"/>
          </a:xfrm>
          <a:prstGeom prst="rect">
            <a:avLst/>
          </a:prstGeom>
        </p:spPr>
      </p:pic>
      <p:pic>
        <p:nvPicPr>
          <p:cNvPr id="5" name="Image 1" descr="img/milkin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4224528"/>
            <a:ext cx="2450592" cy="1417320"/>
          </a:xfrm>
          <a:prstGeom prst="rect">
            <a:avLst/>
          </a:prstGeom>
        </p:spPr>
      </p:pic>
      <p:pic>
        <p:nvPicPr>
          <p:cNvPr id="6" name="Image 2" descr="img/animals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27248" y="4224528"/>
            <a:ext cx="2450592" cy="1417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57150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visit, daily milking, and the full dairy herd — Ingohata village, Hamirpur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5943600" y="128016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5943600" y="151790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Kalka Prashad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943600" y="1883664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943600" y="212140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Ingohata, Hamirpur, Uttar Pradesh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943600" y="2487168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 SIZE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943600" y="272491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dairy animals (cows and buffaloes)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943600" y="309067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943600" y="332841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35 - 40 litres/day </a:t>
            </a:r>
            <a:r>
              <a:rPr lang="en-US" sz="12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(~10,00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L/month capacity)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943600" y="3694176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(TYPICAL)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43600" y="39319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60,000 - Rs 70,000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0" y="4343400"/>
            <a:ext cx="5669280" cy="1920240"/>
          </a:xfrm>
          <a:prstGeom prst="roundRect">
            <a:avLst>
              <a:gd name="adj" fmla="val 3333"/>
            </a:avLst>
          </a:prstGeom>
          <a:solidFill>
            <a:srgbClr val="F5F6F5"/>
          </a:solidFill>
          <a:ln/>
        </p:spPr>
      </p:sp>
      <p:sp>
        <p:nvSpPr>
          <p:cNvPr id="19" name="Text 14"/>
          <p:cNvSpPr/>
          <p:nvPr/>
        </p:nvSpPr>
        <p:spPr>
          <a:xfrm>
            <a:off x="6172200" y="4480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72200" y="48006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dairy business managing milk production, animal health, customer sales, feed consumption and operational expenses — for years run entirely on manual, paper-based registers.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46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2A2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centralized business data management system for accurate, organized records of dairy animals, milk production, customer transactions, feed consumption and operational expenses.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337560"/>
            <a:ext cx="5486400" cy="1554480"/>
          </a:xfrm>
          <a:prstGeom prst="roundRect">
            <a:avLst>
              <a:gd name="adj" fmla="val 4118"/>
            </a:avLst>
          </a:prstGeom>
          <a:solidFill>
            <a:srgbClr val="1B94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operational efficiency and business decision-making by improving financial monitoring, reducing record-keeping errors, and enabling effective analysis of farm performance.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0" y="12344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46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373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data-driven analysis of production, sales, feed and expenses to identify operational issues early and support evidence-based, sustainable decision-making at Kalka Dairy Farm.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46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Methods Applied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3383280"/>
            <a:ext cx="2578608" cy="685800"/>
          </a:xfrm>
          <a:prstGeom prst="roundRect">
            <a:avLst>
              <a:gd name="adj" fmla="val 8000"/>
            </a:avLst>
          </a:prstGeom>
          <a:solidFill>
            <a:srgbClr val="2A2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383280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0848" y="3383280"/>
            <a:ext cx="2578608" cy="685800"/>
          </a:xfrm>
          <a:prstGeom prst="roundRect">
            <a:avLst>
              <a:gd name="adj" fmla="val 8000"/>
            </a:avLst>
          </a:prstGeom>
          <a:solidFill>
            <a:srgbClr val="2A2E3A"/>
          </a:solidFill>
          <a:ln/>
        </p:spPr>
      </p:sp>
      <p:sp>
        <p:nvSpPr>
          <p:cNvPr id="16" name="Text 14"/>
          <p:cNvSpPr/>
          <p:nvPr/>
        </p:nvSpPr>
        <p:spPr>
          <a:xfrm>
            <a:off x="9070848" y="3383280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4206240"/>
            <a:ext cx="2578608" cy="685800"/>
          </a:xfrm>
          <a:prstGeom prst="roundRect">
            <a:avLst>
              <a:gd name="adj" fmla="val 8000"/>
            </a:avLst>
          </a:prstGeom>
          <a:solidFill>
            <a:srgbClr val="2A2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206240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Profitability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0848" y="4206240"/>
            <a:ext cx="2578608" cy="685800"/>
          </a:xfrm>
          <a:prstGeom prst="roundRect">
            <a:avLst>
              <a:gd name="adj" fmla="val 8000"/>
            </a:avLst>
          </a:prstGeom>
          <a:solidFill>
            <a:srgbClr val="2A2E3A"/>
          </a:solidFill>
          <a:ln/>
        </p:spPr>
      </p:sp>
      <p:sp>
        <p:nvSpPr>
          <p:cNvPr id="20" name="Text 18"/>
          <p:cNvSpPr/>
          <p:nvPr/>
        </p:nvSpPr>
        <p:spPr>
          <a:xfrm>
            <a:off x="9070848" y="4206240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Sales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5029200"/>
            <a:ext cx="2578608" cy="685800"/>
          </a:xfrm>
          <a:prstGeom prst="roundRect">
            <a:avLst>
              <a:gd name="adj" fmla="val 8000"/>
            </a:avLst>
          </a:prstGeom>
          <a:solidFill>
            <a:srgbClr val="2A2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5029200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/ Dashboard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0848" y="5029200"/>
            <a:ext cx="2578608" cy="685800"/>
          </a:xfrm>
          <a:prstGeom prst="roundRect">
            <a:avLst>
              <a:gd name="adj" fmla="val 8000"/>
            </a:avLst>
          </a:prstGeom>
          <a:solidFill>
            <a:srgbClr val="2A2E3A"/>
          </a:solidFill>
          <a:ln/>
        </p:spPr>
      </p:sp>
      <p:sp>
        <p:nvSpPr>
          <p:cNvPr id="24" name="Text 22"/>
          <p:cNvSpPr/>
          <p:nvPr/>
        </p:nvSpPr>
        <p:spPr>
          <a:xfrm>
            <a:off x="9070848" y="5029200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/ Root-Cause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DATA COLLECTED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 &amp; Descriptive Statistics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 (10 sheets, ~4,883 rows | Jan-Jun 2025)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264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Animal_Master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1426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56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Daily_Milk_Production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1,448 rows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395728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825496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15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Milk_Sales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715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1,086 rows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145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Feed_Consumption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455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1,448 rows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85032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753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Veterinary_Records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35753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rows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05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4005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 rows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544568"/>
            <a:ext cx="128016" cy="128016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434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Monthly_Summary / KPI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+ 7 rows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508406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Forms: Numerical (milk quantities, sales, cost), Categorical (types, categories), Date, and Monthly Summary data.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1188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DESCRIPTIVE STATISTICS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1508760"/>
            <a:ext cx="1600200" cy="274320"/>
          </a:xfrm>
          <a:prstGeom prst="rect">
            <a:avLst/>
          </a:prstGeom>
          <a:solidFill>
            <a:srgbClr val="2A2E3A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92440" y="1508760"/>
            <a:ext cx="594360" cy="274320"/>
          </a:xfrm>
          <a:prstGeom prst="rect">
            <a:avLst/>
          </a:prstGeom>
          <a:solidFill>
            <a:srgbClr val="2A2E3A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0" y="1508760"/>
            <a:ext cx="777240" cy="274320"/>
          </a:xfrm>
          <a:prstGeom prst="rect">
            <a:avLst/>
          </a:prstGeom>
          <a:solidFill>
            <a:srgbClr val="2A2E3A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64040" y="1508760"/>
            <a:ext cx="777240" cy="274320"/>
          </a:xfrm>
          <a:prstGeom prst="rect">
            <a:avLst/>
          </a:prstGeom>
          <a:solidFill>
            <a:srgbClr val="2A2E3A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241280" y="1508760"/>
            <a:ext cx="685800" cy="274320"/>
          </a:xfrm>
          <a:prstGeom prst="rect">
            <a:avLst/>
          </a:prstGeom>
          <a:solidFill>
            <a:srgbClr val="2A2E3A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27080" y="1508760"/>
            <a:ext cx="685800" cy="274320"/>
          </a:xfrm>
          <a:prstGeom prst="rect">
            <a:avLst/>
          </a:prstGeom>
          <a:solidFill>
            <a:srgbClr val="2A2E3A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1801368"/>
            <a:ext cx="16002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Milk (L)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92440" y="1801368"/>
            <a:ext cx="59436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86800" y="1801368"/>
            <a:ext cx="77724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464040" y="1801368"/>
            <a:ext cx="77724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241280" y="1801368"/>
            <a:ext cx="6858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927080" y="1801368"/>
            <a:ext cx="6858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92240" y="2093976"/>
            <a:ext cx="16002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Sold (L)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92440" y="2093976"/>
            <a:ext cx="5943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0" y="2093976"/>
            <a:ext cx="7772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464040" y="2093976"/>
            <a:ext cx="7772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241280" y="2093976"/>
            <a:ext cx="685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927080" y="2093976"/>
            <a:ext cx="685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92240" y="2386584"/>
            <a:ext cx="16002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Amount (Rs)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92440" y="2386584"/>
            <a:ext cx="59436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686800" y="2386584"/>
            <a:ext cx="77724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265.79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64040" y="2386584"/>
            <a:ext cx="77724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170.84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241280" y="2386584"/>
            <a:ext cx="6858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927080" y="2386584"/>
            <a:ext cx="6858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92240" y="2679192"/>
            <a:ext cx="16002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Cost (Rs)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092440" y="2679192"/>
            <a:ext cx="5943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1448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686800" y="2679192"/>
            <a:ext cx="7772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141.75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464040" y="2679192"/>
            <a:ext cx="7772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43.89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241280" y="2679192"/>
            <a:ext cx="685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927080" y="2679192"/>
            <a:ext cx="685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92240" y="2971800"/>
            <a:ext cx="16002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Cost (Rs)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92440" y="2971800"/>
            <a:ext cx="59436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686800" y="2971800"/>
            <a:ext cx="77724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629.05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64040" y="2971800"/>
            <a:ext cx="77724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241280" y="2971800"/>
            <a:ext cx="6858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0927080" y="2971800"/>
            <a:ext cx="685800" cy="292608"/>
          </a:xfrm>
          <a:prstGeom prst="rect">
            <a:avLst/>
          </a:prstGeom>
          <a:solidFill>
            <a:srgbClr val="F5F6F5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92240" y="3264408"/>
            <a:ext cx="16002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Amt (Rs)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092440" y="3264408"/>
            <a:ext cx="5943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686800" y="3264408"/>
            <a:ext cx="7772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982.75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9464040" y="3264408"/>
            <a:ext cx="7772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1273.89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0241280" y="3264408"/>
            <a:ext cx="685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0927080" y="3264408"/>
            <a:ext cx="685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4979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 &amp; Analysis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887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analysis, datasets were checked for missing values, duplicates, incorrect data types, inconsistent dates and categorical inconsistencies. A reconciliation step compared transaction-level records with summary tables.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2A2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3317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33172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23317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1B9461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23317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33172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2A2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3317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33172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23317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1B94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3317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233172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3880" y="23317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2A2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3317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0" y="233172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04120" y="233172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1B94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4120" y="233172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Excel (Pivot Tables, dashboards, KPI cards)  +  Python / Google Colab (cleaning, statistical analysis, visualization)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43434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46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These Methods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47548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give the required performance baseline before decisions are made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reveals month-to-month change that a single average would hide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47548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profitability analysis directly targets the financial-monitoring objective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KPI/dashboard converts detailed records into a quick management 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&amp; Financial Trends (Jan-Jun 2025)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502920" y="1325880"/>
          <a:ext cx="36118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297680" y="1325880"/>
          <a:ext cx="36118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8092440" y="1325880"/>
          <a:ext cx="36118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502920" y="489204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5F6F5"/>
          </a:solidFill>
          <a:ln/>
        </p:spPr>
      </p:sp>
      <p:sp>
        <p:nvSpPr>
          <p:cNvPr id="9" name="Text 4"/>
          <p:cNvSpPr/>
          <p:nvPr/>
        </p:nvSpPr>
        <p:spPr>
          <a:xfrm>
            <a:off x="731520" y="5001768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production dipped in Feb (1,088 L) and peaked in May (1,201 L). Revenue and profit closely tracked production, and profit margin stayed stable (51.2%-52.3%) throughout.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Sales, Customer &amp; Animal Productivity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502920" y="1371600"/>
          <a:ext cx="5394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126480" y="1371600"/>
          <a:ext cx="5532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02920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5F6F5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5138928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customers (85%) dominate the base. Selling rate stays tightly near Rs 60/L, so revenue changes track quantity sold, not price. Animal productivity ranges from 8.8 to 12.3 L/day (avg 10.78 L/day) — worth tracking animal-wise, not just as a farm-wide average.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Insights &amp;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3444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554480"/>
            <a:ext cx="365760" cy="365760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53312"/>
            <a:ext cx="4480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was the consistent low point across production, revenue and profit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6F5"/>
          </a:solidFill>
          <a:ln/>
        </p:spPr>
      </p:sp>
      <p:sp>
        <p:nvSpPr>
          <p:cNvPr id="9" name="Shape 7"/>
          <p:cNvSpPr/>
          <p:nvPr/>
        </p:nvSpPr>
        <p:spPr>
          <a:xfrm>
            <a:off x="6373368" y="1554480"/>
            <a:ext cx="365760" cy="365760"/>
          </a:xfrm>
          <a:prstGeom prst="ellipse">
            <a:avLst/>
          </a:prstGeom>
          <a:solidFill>
            <a:srgbClr val="2A2E3A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353312"/>
            <a:ext cx="4480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was the strongest month on every major performance measure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" y="3044952"/>
            <a:ext cx="365760" cy="365760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4480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closely followed the production trend all six months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724912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6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3044952"/>
            <a:ext cx="365760" cy="365760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843784"/>
            <a:ext cx="4480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selling prices mean sales performance is driven by quantity, not price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215384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6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" y="4535424"/>
            <a:ext cx="365760" cy="365760"/>
          </a:xfrm>
          <a:prstGeom prst="ellipse">
            <a:avLst/>
          </a:prstGeom>
          <a:solidFill>
            <a:srgbClr val="2A2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334256"/>
            <a:ext cx="4480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stayed positive every month — resilient, not fragile, performance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215384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5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3368" y="4535424"/>
            <a:ext cx="365760" cy="365760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4334256"/>
            <a:ext cx="448056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cost is the single largest expense driver (~56.6% of monthly spend)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Recommendations &amp; Action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1645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25880"/>
            <a:ext cx="329184" cy="329184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digital record keeping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418320" y="128016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F5F6F5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128016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188366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KPI review (production, revenue, expense, profit, margin)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418320" y="1883664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F5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0" y="1883664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532888"/>
            <a:ext cx="329184" cy="329184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24871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animal's production with feed &amp; health status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18320" y="2487168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F5F6F5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24871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136392"/>
            <a:ext cx="329184" cy="329184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36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309067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&amp; review unusual expenses; feed cost vs. milk output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18320" y="3090672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F5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0" y="3090672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739896"/>
            <a:ext cx="329184" cy="329184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5840" y="369417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the 44 pending transactions (Rs 11,854)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418320" y="3694176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F5F6F5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369417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343400"/>
            <a:ext cx="329184" cy="329184"/>
          </a:xfrm>
          <a:prstGeom prst="ellipse">
            <a:avLst/>
          </a:prstGeom>
          <a:solidFill>
            <a:srgbClr val="1B946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343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05840" y="42976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formats, unique IDs, validation rules &amp; backups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418320" y="42976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F5F6F5"/>
          </a:solidFill>
          <a:ln/>
        </p:spPr>
      </p:sp>
      <p:sp>
        <p:nvSpPr>
          <p:cNvPr id="33" name="Text 31"/>
          <p:cNvSpPr/>
          <p:nvPr/>
        </p:nvSpPr>
        <p:spPr>
          <a:xfrm>
            <a:off x="9418320" y="42976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6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94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Stable, Profitable Farm — and a Clear Path to Better Data Discipline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Kalka Dairy Farm generated </a:t>
            </a:r>
            <a:r>
              <a:rPr lang="en-US" sz="1400" b="1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2,17,480 net profit on Rs 4,17,800 revenue</a:t>
            </a: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(~52.1% margin) over six months, with production and profit strengthening after a February dip and peaking in May.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 does not need a complex analytical system — a disciplined digital record structure, regular KPI review, animal-wise monitoring, and consistent expense tracking are enough to protect profitability and support future growth.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297680"/>
            <a:ext cx="640080" cy="54864"/>
          </a:xfrm>
          <a:prstGeom prst="rect">
            <a:avLst/>
          </a:prstGeom>
          <a:solidFill>
            <a:srgbClr val="1B94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Yadvendra Pal  |  24f1000137  |  IITM BS Degree Program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981</Words>
  <Application>Microsoft Office PowerPoint</Application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Indian Institute of Technology, Madras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Insights for Kalka Dairy Farm</dc:title>
  <dc:subject>BDM Capstone Project - Viva Voce Presentation</dc:subject>
  <dc:creator>Yadvendra Pal</dc:creator>
  <cp:lastModifiedBy>Yadvendra pal</cp:lastModifiedBy>
  <cp:revision>1</cp:revision>
  <dcterms:created xsi:type="dcterms:W3CDTF">2026-09-14T11:50:39Z</dcterms:created>
  <dcterms:modified xsi:type="dcterms:W3CDTF">2026-09-17T04:41:44Z</dcterms:modified>
</cp:coreProperties>
</file>